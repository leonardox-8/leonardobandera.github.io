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eonardo Bander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Leonardo Bandera</a:t>
            </a:r>
          </a:p>
        </p:txBody>
      </p:sp>
      <p:sp>
        <p:nvSpPr>
          <p:cNvPr id="172" name="A solvable model of Generative Diffusion and the memorization phenomen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365188">
              <a:defRPr spc="-225" sz="11252"/>
            </a:lvl1pPr>
          </a:lstStyle>
          <a:p>
            <a:pPr/>
            <a:r>
              <a:t>A solvable model of Generative Diffusion and the memorization phenomenon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75" name="Diffusion Sampling and problem statemen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Diffusion Sampling and problem statement </a:t>
            </a:r>
          </a:p>
          <a:p>
            <a:pPr/>
            <a:r>
              <a:t>Understanding training dynamics: the original setting</a:t>
            </a:r>
          </a:p>
          <a:p>
            <a:pPr/>
            <a:r>
              <a:t>First line of research: towards a more realistic architecture</a:t>
            </a:r>
          </a:p>
          <a:p>
            <a:pPr/>
            <a:r>
              <a:t>Second line of research: structured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enerative Diff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Generative Diffusion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WhatsApp Image 2025-12-10 at 09.36.26.jpeg" descr="WhatsApp Image 2025-12-10 at 09.36.26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921998" y="2985795"/>
            <a:ext cx="20540004" cy="799852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core-based Diff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Score-based Diffusion</a:t>
            </a:r>
          </a:p>
        </p:txBody>
      </p:sp>
      <p:sp>
        <p:nvSpPr>
          <p:cNvPr id="182" name="Forward process:…"/>
          <p:cNvSpPr txBox="1"/>
          <p:nvPr>
            <p:ph type="body" sz="half" idx="1"/>
          </p:nvPr>
        </p:nvSpPr>
        <p:spPr>
          <a:xfrm>
            <a:off x="1206500" y="4062753"/>
            <a:ext cx="21971000" cy="5590493"/>
          </a:xfrm>
          <a:prstGeom prst="rect">
            <a:avLst/>
          </a:prstGeom>
        </p:spPr>
        <p:txBody>
          <a:bodyPr/>
          <a:lstStyle/>
          <a:p>
            <a:pPr/>
            <a:r>
              <a:t>Forward process: </a:t>
            </a:r>
            <a14:m>
              <m:oMath>
                <m:f>
                  <m:fPr>
                    <m:ctrl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bi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num>
                  <m:den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den>
                </m:f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η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Reversed process: </a:t>
            </a:r>
            <a14:m>
              <m:oMath>
                <m:f>
                  <m:fPr>
                    <m:ctrl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m:rPr>
                        <m:sty m:val="bi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num>
                  <m:den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τ</m:t>
                    </m:r>
                  </m:den>
                </m:f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m:rPr>
                    <m:sty m:val="b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∇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log</m:t>
                </m:r>
                <m:sSub>
                  <m:e>
                    <m:limUpp>
                      <m:e>
                        <m:r>
                          <a:rPr xmlns:a="http://schemas.openxmlformats.org/drawingml/2006/main"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lim>
                        <m:r>
                          <a:rPr xmlns:a="http://schemas.openxmlformats.org/drawingml/2006/main"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˜</m:t>
                        </m:r>
                      </m:lim>
                    </m:limUpp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τ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limUpp>
                  <m:e>
                    <m:r>
                      <m:rPr>
                        <m:sty m:val="bi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η</m:t>
                    </m:r>
                  </m:e>
                  <m:li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˜</m:t>
                    </m:r>
                  </m:lim>
                </m:limUpp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τ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</a:p>
          <a:p>
            <a:pPr/>
            <a:r>
              <a:t>The score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sty m:val="b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∇</m:t>
                </m:r>
                <m:r>
                  <m:rPr>
                    <m:sty m:val="p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log</m:t>
                </m:r>
                <m:sSub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unknown… we learn it!</a:t>
            </a:r>
          </a:p>
        </p:txBody>
      </p:sp>
      <p:sp>
        <p:nvSpPr>
          <p:cNvPr id="183" name="Equation"/>
          <p:cNvSpPr txBox="1"/>
          <p:nvPr/>
        </p:nvSpPr>
        <p:spPr>
          <a:xfrm>
            <a:off x="5904693" y="10474426"/>
            <a:ext cx="12574614" cy="19057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m:rPr>
                          <m:scr m:val="script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</m:sub>
                  </m:sSub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bi"/>
                    </m:rP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θ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scr m:val="script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b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sub>
                  </m:sSub>
                  <m:sSup>
                    <m:e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  <m:sSup>
                        <m:e>
                          <m:limUpp>
                            <m:e>
                              <m:r>
                                <m:rPr>
                                  <m:sty m:val="bi"/>
                                </m:rPr>
                                <a:rPr xmlns:a="http://schemas.openxmlformats.org/drawingml/2006/main"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lim>
                              <m:r>
                                <a:rPr xmlns:a="http://schemas.openxmlformats.org/drawingml/2006/main"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̂</m:t>
                              </m:r>
                            </m:lim>
                          </m:limUpp>
                        </m:e>
                        <m:sup>
                          <m:r>
                            <m:rPr>
                              <m:sty m:val="bi"/>
                            </m:r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μ</m:t>
                          </m:r>
                        </m:sup>
                      </m:sSub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bi"/>
                        </m:rP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m:rPr>
                              <m:sty m:val="bi"/>
                            </m:rPr>
                            <a:rPr xmlns:a="http://schemas.openxmlformats.org/drawingml/2006/main"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ξ</m:t>
                          </m:r>
                        </m:num>
                        <m:den>
                          <m:rad>
                            <m:radPr>
                              <m:ctrlPr>
                                <a:rPr xmlns:a="http://schemas.openxmlformats.org/drawingml/2006/main"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xmlns:a="http://schemas.openxmlformats.org/drawingml/2006/main"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xmlns:a="http://schemas.openxmlformats.org/drawingml/2006/main"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</m:e>
                    <m:sup>
                      <m:r>
                        <a:rPr xmlns:a="http://schemas.openxmlformats.org/drawingml/2006/main"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 sz="4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WhatsApp Image 2025-12-10 at 09.36.26 (1).jpeg" descr="WhatsApp Image 2025-12-10 at 09.36.26 (1)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3645119" y="118861"/>
            <a:ext cx="9513752" cy="12242315"/>
          </a:xfrm>
          <a:prstGeom prst="rect">
            <a:avLst/>
          </a:prstGeom>
        </p:spPr>
      </p:pic>
      <p:sp>
        <p:nvSpPr>
          <p:cNvPr id="186" name="Problem: sampling with the empirical loss minimizer leads to memorization!"/>
          <p:cNvSpPr txBox="1"/>
          <p:nvPr>
            <p:ph type="title"/>
          </p:nvPr>
        </p:nvSpPr>
        <p:spPr>
          <a:xfrm>
            <a:off x="680065" y="3008249"/>
            <a:ext cx="9779001" cy="6489028"/>
          </a:xfrm>
          <a:prstGeom prst="rect">
            <a:avLst/>
          </a:prstGeom>
        </p:spPr>
        <p:txBody>
          <a:bodyPr/>
          <a:lstStyle/>
          <a:p>
            <a:pPr/>
            <a:r>
              <a:t>Problem: sampling with the empirical loss minimizer leads to memorization!</a:t>
            </a:r>
          </a:p>
        </p:txBody>
      </p:sp>
      <p:sp>
        <p:nvSpPr>
          <p:cNvPr id="187" name="Giulio Biroli, Tony Bonnaire, Valentin de Bortoli, and Marc Mézard. Dynamical regimes of diffusion models. Nature Communications, 15(1):9957, nov 2024"/>
          <p:cNvSpPr txBox="1"/>
          <p:nvPr/>
        </p:nvSpPr>
        <p:spPr>
          <a:xfrm>
            <a:off x="367568" y="11544500"/>
            <a:ext cx="12143743" cy="1337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/>
            </a:lvl1pPr>
          </a:lstStyle>
          <a:p>
            <a:pPr/>
            <a:r>
              <a:t>Giulio Biroli, Tony Bonnaire, Valentin de Bortoli, and Marc Mézard. Dynamical regimes of diffusion models. Nature Communications, 15(1):9957, nov 2024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Why real diffusion systems avoid this degeneracy?"/>
          <p:cNvSpPr txBox="1"/>
          <p:nvPr>
            <p:ph type="body" sz="half" idx="1"/>
          </p:nvPr>
        </p:nvSpPr>
        <p:spPr>
          <a:xfrm>
            <a:off x="1206500" y="916085"/>
            <a:ext cx="21971000" cy="3874314"/>
          </a:xfrm>
          <a:prstGeom prst="rect">
            <a:avLst/>
          </a:prstGeom>
        </p:spPr>
        <p:txBody>
          <a:bodyPr/>
          <a:lstStyle/>
          <a:p>
            <a:pPr/>
            <a:r>
              <a:t>Why real diffusion systems avoid this degeneracy?</a:t>
            </a:r>
          </a:p>
        </p:txBody>
      </p:sp>
      <p:sp>
        <p:nvSpPr>
          <p:cNvPr id="190" name="Architectural constraints…"/>
          <p:cNvSpPr txBox="1"/>
          <p:nvPr/>
        </p:nvSpPr>
        <p:spPr>
          <a:xfrm>
            <a:off x="1206500" y="7665595"/>
            <a:ext cx="21971000" cy="2981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 marL="609599" indent="-609599">
              <a:buSzPct val="123000"/>
              <a:buChar char="•"/>
              <a:defRPr sz="8600"/>
            </a:pPr>
            <a:r>
              <a:t>Architectural constraints</a:t>
            </a:r>
          </a:p>
          <a:p>
            <a:pPr marL="609599" indent="-609599">
              <a:buSzPct val="123000"/>
              <a:buChar char="•"/>
              <a:defRPr b="1" sz="8600"/>
            </a:pPr>
            <a:r>
              <a:t>Training dynamics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Screenshot 2025-12-10 at 10.41.51.png" descr="Screenshot 2025-12-10 at 10.41.51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0216688" y="-247734"/>
            <a:ext cx="14293516" cy="13716001"/>
          </a:xfrm>
          <a:prstGeom prst="rect">
            <a:avLst/>
          </a:prstGeom>
        </p:spPr>
      </p:pic>
      <p:sp>
        <p:nvSpPr>
          <p:cNvPr id="193" name="The original setting"/>
          <p:cNvSpPr txBox="1"/>
          <p:nvPr>
            <p:ph type="title"/>
          </p:nvPr>
        </p:nvSpPr>
        <p:spPr>
          <a:xfrm>
            <a:off x="401364" y="-3651728"/>
            <a:ext cx="12295106" cy="7858340"/>
          </a:xfrm>
          <a:prstGeom prst="rect">
            <a:avLst/>
          </a:prstGeom>
        </p:spPr>
        <p:txBody>
          <a:bodyPr/>
          <a:lstStyle/>
          <a:p>
            <a:pPr/>
            <a:r>
              <a:t>The original setting</a:t>
            </a:r>
          </a:p>
        </p:txBody>
      </p:sp>
      <p:sp>
        <p:nvSpPr>
          <p:cNvPr id="194" name="Gaussian data"/>
          <p:cNvSpPr txBox="1"/>
          <p:nvPr/>
        </p:nvSpPr>
        <p:spPr>
          <a:xfrm>
            <a:off x="366189" y="6453784"/>
            <a:ext cx="57469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Gaussian data</a:t>
            </a:r>
          </a:p>
        </p:txBody>
      </p:sp>
      <p:sp>
        <p:nvSpPr>
          <p:cNvPr id="195" name="One RFNN per time"/>
          <p:cNvSpPr txBox="1"/>
          <p:nvPr/>
        </p:nvSpPr>
        <p:spPr>
          <a:xfrm>
            <a:off x="394374" y="8109047"/>
            <a:ext cx="4132290" cy="1461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One RFNN per time</a:t>
            </a:r>
          </a:p>
        </p:txBody>
      </p:sp>
      <p:sp>
        <p:nvSpPr>
          <p:cNvPr id="196" name="Tony Bonnaire, Raphaël Urfin, Giulio Biroli, and Marc Mézard. Why diffusion models don’t memorize: The role of implicit dynamical regularization in training. arXivpreprint arXiv:2505.17638, 2025"/>
          <p:cNvSpPr txBox="1"/>
          <p:nvPr/>
        </p:nvSpPr>
        <p:spPr>
          <a:xfrm>
            <a:off x="201690" y="11298870"/>
            <a:ext cx="10648162" cy="1739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900"/>
            </a:lvl1pPr>
          </a:lstStyle>
          <a:p>
            <a:pPr/>
            <a:r>
              <a:t>Tony Bonnaire, Raphaël Urfin, Giulio Biroli, and Marc Mézard. Why diffusion models don’t memorize: The role of implicit dynamical regularization in training. arXivpreprint arXiv:2505.17638,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radient Flow"/>
          <p:cNvSpPr txBox="1"/>
          <p:nvPr/>
        </p:nvSpPr>
        <p:spPr>
          <a:xfrm>
            <a:off x="768757" y="724936"/>
            <a:ext cx="392917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Gradient Flow</a:t>
            </a:r>
          </a:p>
        </p:txBody>
      </p:sp>
      <p:sp>
        <p:nvSpPr>
          <p:cNvPr id="199" name="Equation"/>
          <p:cNvSpPr txBox="1"/>
          <p:nvPr/>
        </p:nvSpPr>
        <p:spPr>
          <a:xfrm>
            <a:off x="8265912" y="2013261"/>
            <a:ext cx="8472953" cy="18239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limUpp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τ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den>
                  </m:f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ad>
                        <m:rad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rad>
                    </m:num>
                    <m:den>
                      <m:rad>
                        <m:rad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rad>
                    </m:den>
                  </m:f>
                  <m:sSup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⊤</m:t>
                      </m:r>
                    </m:sup>
                  </m:sSup>
                </m:oMath>
              </m:oMathPara>
            </a14:m>
            <a:endParaRPr sz="4800"/>
          </a:p>
        </p:txBody>
      </p:sp>
      <p:sp>
        <p:nvSpPr>
          <p:cNvPr id="200" name="The timescales of the training dynamics are given by the inverse eigenvalues of the matrix   !"/>
          <p:cNvSpPr txBox="1"/>
          <p:nvPr/>
        </p:nvSpPr>
        <p:spPr>
          <a:xfrm>
            <a:off x="787146" y="9013975"/>
            <a:ext cx="22809709" cy="2500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timescales of the training dynamics are given by the inverse eigenvalues of the matrix </a:t>
            </a:r>
            <a14:m>
              <m:oMath>
                <m:sSub>
                  <m:e>
                    <m:r>
                      <m:rPr>
                        <m:sty m:val="p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f>
                  <m:fPr>
                    <m:ctrl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num>
                  <m:den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den>
                </m:f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</m:oMath>
            </a14:m>
            <a:r>
              <a:t> !</a:t>
            </a:r>
          </a:p>
        </p:txBody>
      </p:sp>
      <p:sp>
        <p:nvSpPr>
          <p:cNvPr id="201" name="where"/>
          <p:cNvSpPr txBox="1"/>
          <p:nvPr/>
        </p:nvSpPr>
        <p:spPr>
          <a:xfrm>
            <a:off x="768757" y="4131278"/>
            <a:ext cx="176205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where</a:t>
            </a:r>
          </a:p>
        </p:txBody>
      </p:sp>
      <p:sp>
        <p:nvSpPr>
          <p:cNvPr id="202" name="Equation"/>
          <p:cNvSpPr txBox="1"/>
          <p:nvPr/>
        </p:nvSpPr>
        <p:spPr>
          <a:xfrm>
            <a:off x="8216335" y="6038883"/>
            <a:ext cx="8043598" cy="163823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sup>
                      </m:sSub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rad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sup>
                      </m:sSub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</m:rad>
                    </m:den>
                  </m:f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⊤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]</m:t>
                  </m:r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tieltjes transform…"/>
          <p:cNvSpPr txBox="1"/>
          <p:nvPr>
            <p:ph type="body" sz="quarter" idx="1"/>
          </p:nvPr>
        </p:nvSpPr>
        <p:spPr>
          <a:xfrm>
            <a:off x="1206500" y="3226602"/>
            <a:ext cx="9779000" cy="3324450"/>
          </a:xfrm>
          <a:prstGeom prst="rect">
            <a:avLst/>
          </a:prstGeom>
        </p:spPr>
        <p:txBody>
          <a:bodyPr/>
          <a:lstStyle/>
          <a:p>
            <a:pPr/>
            <a:r>
              <a:t>Stieltjes transform</a:t>
            </a:r>
          </a:p>
          <a:p>
            <a:pPr/>
            <a:r>
              <a:t>GEP</a:t>
            </a:r>
          </a:p>
          <a:p>
            <a:pPr/>
            <a:r>
              <a:t>Replica</a:t>
            </a:r>
          </a:p>
        </p:txBody>
      </p:sp>
      <p:pic>
        <p:nvPicPr>
          <p:cNvPr id="205" name="Screenshot 2025-12-10 at 11.41.00.png" descr="Screenshot 2025-12-10 at 11.41.00.pn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7000" t="0" r="7000" b="0"/>
          <a:stretch>
            <a:fillRect/>
          </a:stretch>
        </p:blipFill>
        <p:spPr>
          <a:xfrm>
            <a:off x="12191999" y="1263848"/>
            <a:ext cx="10916874" cy="11188205"/>
          </a:xfrm>
          <a:prstGeom prst="rect">
            <a:avLst/>
          </a:prstGeom>
        </p:spPr>
      </p:pic>
      <p:sp>
        <p:nvSpPr>
          <p:cNvPr id="206" name="spectru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14:m>
              <m:oMath>
                <m:r>
                  <m:rPr>
                    <m:sty m:val="bi"/>
                  </m:rPr>
                  <a:rPr xmlns:a="http://schemas.openxmlformats.org/drawingml/2006/main" sz="8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</m:oMath>
            </a14:m>
            <a:r>
              <a:t> spectrum</a:t>
            </a:r>
          </a:p>
        </p:txBody>
      </p:sp>
      <p:sp>
        <p:nvSpPr>
          <p:cNvPr id="207" name="Two bulks!"/>
          <p:cNvSpPr txBox="1"/>
          <p:nvPr/>
        </p:nvSpPr>
        <p:spPr>
          <a:xfrm>
            <a:off x="4082199" y="8962025"/>
            <a:ext cx="5744859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i="1" sz="8000"/>
            </a:lvl1pPr>
          </a:lstStyle>
          <a:p>
            <a:pPr/>
            <a:r>
              <a:t>Two bulks!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What’s happening at the metrics at the timescales associated to the bulks?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 defTabSz="2096971">
              <a:defRPr spc="-199" sz="9976"/>
            </a:lvl1pPr>
          </a:lstStyle>
          <a:p>
            <a:pPr/>
            <a:r>
              <a:t>What’s happening at the metrics at the timescales associated to the bulks?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aper_score.pdf" descr="paper_score.pdf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490" r="0" b="490"/>
          <a:stretch>
            <a:fillRect/>
          </a:stretch>
        </p:blipFill>
        <p:spPr>
          <a:xfrm>
            <a:off x="12784559" y="2825893"/>
            <a:ext cx="8313997" cy="8232416"/>
          </a:xfrm>
          <a:prstGeom prst="rect">
            <a:avLst/>
          </a:prstGeom>
        </p:spPr>
      </p:pic>
      <p:pic>
        <p:nvPicPr>
          <p:cNvPr id="212" name="paper_loss.pdf" descr="paper_loss.pdf"/>
          <p:cNvPicPr>
            <a:picLocks noChangeAspect="1"/>
          </p:cNvPicPr>
          <p:nvPr>
            <p:ph type="pic" idx="23"/>
          </p:nvPr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271819" y="2814534"/>
            <a:ext cx="8154644" cy="815464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me Integrated RFNN"/>
          <p:cNvSpPr txBox="1"/>
          <p:nvPr>
            <p:ph type="title"/>
          </p:nvPr>
        </p:nvSpPr>
        <p:spPr>
          <a:xfrm>
            <a:off x="1040620" y="243228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Time Integrated RFNN</a:t>
            </a:r>
          </a:p>
        </p:txBody>
      </p:sp>
      <p:sp>
        <p:nvSpPr>
          <p:cNvPr id="215" name="Equation"/>
          <p:cNvSpPr txBox="1"/>
          <p:nvPr/>
        </p:nvSpPr>
        <p:spPr>
          <a:xfrm>
            <a:off x="6983453" y="5761990"/>
            <a:ext cx="10417095" cy="21920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α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num>
                    <m:den>
                      <m:rad>
                        <m:rad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rad>
                    </m:den>
                  </m:f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σ</m:t>
                  </m:r>
                  <m:d>
                    <m: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f>
                        <m:f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m:rPr>
                              <m:sty m:val="bi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m:rPr>
                              <m:sty m:val="bi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num>
                        <m:den>
                          <m:rad>
                            <m:radPr>
                              <m:ctrlP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  <m:degHide m:val="on"/>
                            </m:radPr>
                            <m:deg/>
                            <m:e>
                              <m:r>
                                <a:rPr xmlns:a="http://schemas.openxmlformats.org/drawingml/2006/main" sz="4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rad>
                        </m:den>
                      </m:f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e>
                  </m:d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</m:oMath>
              </m:oMathPara>
            </a14:m>
            <a:endParaRPr sz="4800"/>
          </a:p>
        </p:txBody>
      </p:sp>
      <p:sp>
        <p:nvSpPr>
          <p:cNvPr id="216" name="Equation"/>
          <p:cNvSpPr txBox="1"/>
          <p:nvPr/>
        </p:nvSpPr>
        <p:spPr>
          <a:xfrm>
            <a:off x="6105307" y="9760983"/>
            <a:ext cx="11871945" cy="163823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{</m:t>
                  </m:r>
                  <m:sSup>
                    <m:e>
                      <m:sSub>
                        <m:e>
                          <m:r>
                            <m:rPr>
                              <m:sty m:val="bi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bi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}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den>
                  </m:f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den>
                  </m:f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∥</m:t>
                  </m:r>
                  <m:rad>
                    <m:ra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degHide m:val="on"/>
                    </m:radPr>
                    <m:deg/>
                    <m:e>
                      <m:sSub>
                        <m:e>
                          <m:r>
                            <m:rPr>
                              <m:sty m:val="p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e>
                  </m:rad>
                  <m:sSub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Sup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ν</m:t>
                      </m:r>
                    </m:sup>
                  </m:sSub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ξ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∥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ame phenomenology…"/>
          <p:cNvSpPr txBox="1"/>
          <p:nvPr>
            <p:ph type="body" sz="half" idx="1"/>
          </p:nvPr>
        </p:nvSpPr>
        <p:spPr>
          <a:xfrm>
            <a:off x="825500" y="540104"/>
            <a:ext cx="21971000" cy="3071138"/>
          </a:xfrm>
          <a:prstGeom prst="rect">
            <a:avLst/>
          </a:prstGeom>
        </p:spPr>
        <p:txBody>
          <a:bodyPr/>
          <a:lstStyle/>
          <a:p>
            <a:pPr/>
            <a:r>
              <a:t>Same phenomenology</a:t>
            </a:r>
          </a:p>
          <a:p>
            <a:pPr/>
            <a:r>
              <a:t>Time integration brakes GEP: we cannot compute </a:t>
            </a:r>
            <a14:m>
              <m:oMath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</m:oMath>
            </a14:m>
            <a:r>
              <a:t> spectrum!</a:t>
            </a:r>
          </a:p>
        </p:txBody>
      </p:sp>
      <p:pic>
        <p:nvPicPr>
          <p:cNvPr id="219" name="U.png" descr="U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0" y="3790950"/>
            <a:ext cx="9144000" cy="527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gep.png" descr="gep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050" y="8686800"/>
            <a:ext cx="9105900" cy="523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zoom_U.png" descr="zoom_U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947400" y="3778250"/>
            <a:ext cx="9093200" cy="529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zoom_gep.png" descr="zoom_gep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966450" y="8655050"/>
            <a:ext cx="9055100" cy="5295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MoG Data"/>
          <p:cNvSpPr txBox="1"/>
          <p:nvPr>
            <p:ph type="title"/>
          </p:nvPr>
        </p:nvSpPr>
        <p:spPr>
          <a:xfrm>
            <a:off x="1206498" y="1282700"/>
            <a:ext cx="21971004" cy="4648200"/>
          </a:xfrm>
          <a:prstGeom prst="rect">
            <a:avLst/>
          </a:prstGeom>
        </p:spPr>
        <p:txBody>
          <a:bodyPr/>
          <a:lstStyle/>
          <a:p>
            <a:pPr/>
            <a:r>
              <a:t>MoG Data</a:t>
            </a:r>
          </a:p>
        </p:txBody>
      </p:sp>
      <p:sp>
        <p:nvSpPr>
          <p:cNvPr id="225" name="Equation"/>
          <p:cNvSpPr txBox="1"/>
          <p:nvPr/>
        </p:nvSpPr>
        <p:spPr>
          <a:xfrm>
            <a:off x="7719132" y="6208471"/>
            <a:ext cx="8945735" cy="129905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f>
                    <m:f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den>
                  </m:f>
                  <m:r>
                    <m:rPr>
                      <m:scr m:val="script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,</m:t>
                  </m:r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bSup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4800"/>
          </a:p>
        </p:txBody>
      </p:sp>
      <p:sp>
        <p:nvSpPr>
          <p:cNvPr id="226" name="or equivalently"/>
          <p:cNvSpPr txBox="1"/>
          <p:nvPr/>
        </p:nvSpPr>
        <p:spPr>
          <a:xfrm>
            <a:off x="1339951" y="8333384"/>
            <a:ext cx="406572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or equivalently</a:t>
            </a:r>
          </a:p>
        </p:txBody>
      </p:sp>
      <p:sp>
        <p:nvSpPr>
          <p:cNvPr id="227" name="Equation"/>
          <p:cNvSpPr txBox="1"/>
          <p:nvPr/>
        </p:nvSpPr>
        <p:spPr>
          <a:xfrm>
            <a:off x="10169395" y="10129587"/>
            <a:ext cx="4045210" cy="56882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sup>
                  </m:sSu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sup>
                  </m:sSup>
                  <m:r>
                    <m:rPr>
                      <m:sty m:val="bi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e>
                    <m:sub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sSup>
                    <m:e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μ</m:t>
                      </m:r>
                    </m:sup>
                  </m:sSup>
                </m:oMath>
              </m:oMathPara>
            </a14:m>
            <a:endParaRPr sz="48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henomenology:…"/>
          <p:cNvSpPr txBox="1"/>
          <p:nvPr>
            <p:ph type="title"/>
          </p:nvPr>
        </p:nvSpPr>
        <p:spPr>
          <a:xfrm>
            <a:off x="1169042" y="758298"/>
            <a:ext cx="9779001" cy="2468653"/>
          </a:xfrm>
          <a:prstGeom prst="rect">
            <a:avLst/>
          </a:prstGeom>
        </p:spPr>
        <p:txBody>
          <a:bodyPr/>
          <a:lstStyle/>
          <a:p>
            <a:pPr defTabSz="1755604">
              <a:defRPr spc="-122" sz="6120"/>
            </a:pPr>
            <a:r>
              <a:t>Phenomenology:</a:t>
            </a:r>
          </a:p>
          <a:p>
            <a:pPr defTabSz="1755604">
              <a:defRPr spc="-122" sz="6120"/>
            </a:pPr>
            <a14:m>
              <m:oMath>
                <m:r>
                  <m:rPr>
                    <m:sty m:val="bi"/>
                  </m:rPr>
                  <a:rPr xmlns:a="http://schemas.openxmlformats.org/drawingml/2006/main" sz="7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U</m:t>
                </m:r>
              </m:oMath>
            </a14:m>
            <a:r>
              <a:t> spectrum BBP transition </a:t>
            </a:r>
            <a:endParaRPr sz="8500"/>
          </a:p>
        </p:txBody>
      </p:sp>
      <p:pic>
        <p:nvPicPr>
          <p:cNvPr id="230" name="plots.gif" descr="plots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59286" y="3751818"/>
            <a:ext cx="15240001" cy="10160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for MoG data is   for gaussian data plus rank-1 terms: the bulks are the same!…"/>
          <p:cNvSpPr txBox="1"/>
          <p:nvPr>
            <p:ph type="body" sz="half" idx="1"/>
          </p:nvPr>
        </p:nvSpPr>
        <p:spPr>
          <a:xfrm>
            <a:off x="1206500" y="4248504"/>
            <a:ext cx="20880577" cy="3746308"/>
          </a:xfrm>
          <a:prstGeom prst="rect">
            <a:avLst/>
          </a:prstGeom>
        </p:spPr>
        <p:txBody>
          <a:bodyPr spcCol="1044028"/>
          <a:lstStyle/>
          <a:p>
            <a:pPr/>
            <a14:m>
              <m:oMath>
                <m:sSub>
                  <m:e>
                    <m:r>
                      <m:rPr>
                        <m:sty m:val="bi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</m:oMath>
            </a14:m>
            <a:r>
              <a:t> for MoG data is </a:t>
            </a:r>
            <a14:m>
              <m:oMath>
                <m:sSub>
                  <m:e>
                    <m:r>
                      <m:rPr>
                        <m:sty m:val="bi"/>
                      </m:r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</m:sub>
                </m:sSub>
              </m:oMath>
            </a14:m>
            <a:r>
              <a:t> for gaussian data plus rank-1 terms: the bulks are the same!</a:t>
            </a:r>
          </a:p>
          <a:p>
            <a:pPr/>
            <a:r>
              <a:t>We must focus on the outlier…</a:t>
            </a:r>
          </a:p>
        </p:txBody>
      </p:sp>
      <p:sp>
        <p:nvSpPr>
          <p:cNvPr id="233" name="GEP holds!"/>
          <p:cNvSpPr txBox="1"/>
          <p:nvPr>
            <p:ph type="title" idx="4294967295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GEP holds!</a:t>
            </a:r>
          </a:p>
        </p:txBody>
      </p:sp>
      <p:sp>
        <p:nvSpPr>
          <p:cNvPr id="234" name="Brandon Livio Annesi, Dario Bocchi, and Chiara Cammarota. Overparametrization…"/>
          <p:cNvSpPr txBox="1"/>
          <p:nvPr/>
        </p:nvSpPr>
        <p:spPr>
          <a:xfrm>
            <a:off x="739386" y="10878213"/>
            <a:ext cx="13511582" cy="2480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900"/>
            </a:pPr>
            <a:r>
              <a:t>Brandon Livio Annesi, Dario Bocchi, and Chiara Cammarota. Overparametrization</a:t>
            </a:r>
          </a:p>
          <a:p>
            <a:pPr>
              <a:defRPr sz="2900"/>
            </a:pPr>
            <a:r>
              <a:t>bends the landscape: Bbp transitions at initialization in simple neural networks.</a:t>
            </a:r>
          </a:p>
          <a:p>
            <a:pPr>
              <a:defRPr sz="2900"/>
            </a:pPr>
            <a:r>
              <a:t>arXiv preprint arXiv:2510.18435, 2025. Submitted on 21 Oct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It’s a matter of gaussian averages!"/>
          <p:cNvSpPr txBox="1"/>
          <p:nvPr>
            <p:ph type="title"/>
          </p:nvPr>
        </p:nvSpPr>
        <p:spPr>
          <a:xfrm>
            <a:off x="3599876" y="5877721"/>
            <a:ext cx="21971001" cy="1434950"/>
          </a:xfrm>
          <a:prstGeom prst="rect">
            <a:avLst/>
          </a:prstGeom>
        </p:spPr>
        <p:txBody>
          <a:bodyPr/>
          <a:lstStyle/>
          <a:p>
            <a:pPr/>
            <a:r>
              <a:t>It’s a matter of gaussian averages!</a:t>
            </a:r>
          </a:p>
        </p:txBody>
      </p:sp>
      <p:sp>
        <p:nvSpPr>
          <p:cNvPr id="237" name="Equation"/>
          <p:cNvSpPr txBox="1"/>
          <p:nvPr/>
        </p:nvSpPr>
        <p:spPr>
          <a:xfrm>
            <a:off x="5145046" y="3018734"/>
            <a:ext cx="14703564" cy="18745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914400" latinLnBrk="1">
              <a:lnSpc>
                <a:spcPct val="100000"/>
              </a:lnSpc>
              <a:spcBef>
                <a:spcPts val="0"/>
              </a:spcBef>
              <a:defRPr sz="1800"/>
            </a:pPr>
            <a14:m>
              <m:oMathPara>
                <m:oMathParaPr>
                  <m:jc m:val="centerGroup"/>
                </m:oMathParaPr>
                <m:oMath>
                  <m:sSub>
                    <m:e>
                      <m:bar>
                        <m:bar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pos m:val="top"/>
                        </m:barPr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</m:ba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lim</m:t>
                      </m:r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lim>
                  </m:limLow>
                  <m:sSub>
                    <m:e>
                      <m:r>
                        <m:rPr>
                          <m:sty m:val="p"/>
                          <m:scr m:val="double-struck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sub>
                  </m:sSub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∫</m:t>
                  </m:r>
                  <m:limUpp>
                    <m:e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∏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lim>
                      </m:limLow>
                    </m:e>
                    <m:lim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lim>
                  </m:limUpp>
                  <m: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s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</m:e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p>
                  </m:sSup>
                  <m:r>
                    <m:rPr>
                      <m:sty m:val="p"/>
                    </m:rPr>
                    <a:rPr xmlns:a="http://schemas.openxmlformats.org/drawingml/2006/main" sz="4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exp</m:t>
                  </m:r>
                  <m:d>
                    <m:dPr>
                      <m:ctrl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begChr m:val="["/>
                      <m:endChr m:val="]"/>
                    </m:dPr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f>
                        <m:fPr>
                          <m:ctrl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limLow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lim>
                      </m:limLow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sSub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m:rPr>
                          <m:sty m:val="bi"/>
                        </m:rP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e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xmlns:a="http://schemas.openxmlformats.org/drawingml/2006/ma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p>
                      </m:sSup>
                    </m:e>
                  </m:d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  <m:sSubSup>
                    <m:e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</m:e>
                    <m:sub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  <m:sup>
                      <m:r>
                        <a:rPr xmlns:a="http://schemas.openxmlformats.org/drawingml/2006/main" sz="4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sup>
                  </m:sSubSup>
                </m:oMath>
              </m:oMathPara>
            </a14:m>
            <a:endParaRPr sz="4800"/>
          </a:p>
        </p:txBody>
      </p:sp>
      <p:sp>
        <p:nvSpPr>
          <p:cNvPr id="238" name="We need to compute this:"/>
          <p:cNvSpPr txBox="1"/>
          <p:nvPr/>
        </p:nvSpPr>
        <p:spPr>
          <a:xfrm>
            <a:off x="1291743" y="1393231"/>
            <a:ext cx="710397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We need to compute this:</a:t>
            </a:r>
          </a:p>
        </p:txBody>
      </p:sp>
      <p:sp>
        <p:nvSpPr>
          <p:cNvPr id="239" name="Wick theorem to reduce averages over many fields to averages of pairs…"/>
          <p:cNvSpPr txBox="1"/>
          <p:nvPr>
            <p:ph type="body" sz="half" idx="4294967295"/>
          </p:nvPr>
        </p:nvSpPr>
        <p:spPr>
          <a:xfrm>
            <a:off x="1206500" y="8845682"/>
            <a:ext cx="21971000" cy="3778892"/>
          </a:xfrm>
          <a:prstGeom prst="rect">
            <a:avLst/>
          </a:prstGeom>
        </p:spPr>
        <p:txBody>
          <a:bodyPr numCol="2" spcCol="1098550"/>
          <a:lstStyle/>
          <a:p>
            <a:pPr/>
            <a:r>
              <a:t>Wick theorem to reduce averages over many fields to averages of pairs</a:t>
            </a:r>
          </a:p>
          <a:p>
            <a:pPr/>
            <a:r>
              <a:t>Feynman diagrams to keep track of all possible pairings and interactions between different gaussian fields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Screenshot 2025-12-11 at 09.33.30.png" descr="Screenshot 2025-12-11 at 09.33.30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7040327" y="9125581"/>
            <a:ext cx="7423448" cy="3632752"/>
          </a:xfrm>
          <a:prstGeom prst="rect">
            <a:avLst/>
          </a:prstGeom>
        </p:spPr>
      </p:pic>
      <p:pic>
        <p:nvPicPr>
          <p:cNvPr id="242" name="Screenshot 2025-12-11 at 09.33.56.png" descr="Screenshot 2025-12-11 at 09.33.56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711286" y="1102199"/>
            <a:ext cx="19468208" cy="2942299"/>
          </a:xfrm>
          <a:prstGeom prst="rect">
            <a:avLst/>
          </a:prstGeom>
        </p:spPr>
      </p:pic>
      <p:sp>
        <p:nvSpPr>
          <p:cNvPr id="243" name="We get to a self-consistent equation for   :"/>
          <p:cNvSpPr txBox="1"/>
          <p:nvPr/>
        </p:nvSpPr>
        <p:spPr>
          <a:xfrm>
            <a:off x="746717" y="5002057"/>
            <a:ext cx="12158767" cy="1105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We get to a self-consistent equation for </a:t>
            </a:r>
            <a14:m>
              <m:oMath>
                <m:sSub>
                  <m:e>
                    <m:bar>
                      <m:barPr>
                        <m:ctrlPr>
                          <a:rPr xmlns:a="http://schemas.openxmlformats.org/drawingml/2006/main"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pos m:val="top"/>
                      </m:barPr>
                      <m:e>
                        <m:r>
                          <a:rPr xmlns:a="http://schemas.openxmlformats.org/drawingml/2006/main"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bar>
                  </m:e>
                  <m:sub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sub>
                </m:sSub>
              </m:oMath>
            </a14:m>
            <a:r>
              <a:t> :</a:t>
            </a:r>
          </a:p>
        </p:txBody>
      </p:sp>
      <p:sp>
        <p:nvSpPr>
          <p:cNvPr id="244" name="solving it gives the bulks"/>
          <p:cNvSpPr txBox="1"/>
          <p:nvPr>
            <p:ph type="body" sz="quarter" idx="4294967295"/>
          </p:nvPr>
        </p:nvSpPr>
        <p:spPr>
          <a:xfrm>
            <a:off x="1373085" y="6316698"/>
            <a:ext cx="16456961" cy="3778892"/>
          </a:xfrm>
          <a:prstGeom prst="rect">
            <a:avLst/>
          </a:prstGeom>
        </p:spPr>
        <p:txBody>
          <a:bodyPr numCol="2" spcCol="822848"/>
          <a:lstStyle/>
          <a:p>
            <a:pPr/>
          </a:p>
          <a:p>
            <a:pPr/>
            <a:r>
              <a:t>solving it gives the bulks</a:t>
            </a:r>
          </a:p>
        </p:txBody>
      </p:sp>
      <p:sp>
        <p:nvSpPr>
          <p:cNvPr id="245" name="the condition for the outlier is setting a denominator to zero"/>
          <p:cNvSpPr txBox="1"/>
          <p:nvPr/>
        </p:nvSpPr>
        <p:spPr>
          <a:xfrm>
            <a:off x="1396653" y="9396674"/>
            <a:ext cx="168356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609600" indent="-609600">
              <a:buSzPct val="123000"/>
              <a:buChar char="•"/>
            </a:lvl1pPr>
          </a:lstStyle>
          <a:p>
            <a:pPr/>
            <a:r>
              <a:t>the condition for the outlier is setting a denominator to zero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Screenshot_2025-11-10_at_20.38.56.png" descr="Screenshot_2025-11-10_at_20.38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70162" y="2083193"/>
            <a:ext cx="16043676" cy="106957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Diffusion dynamics: what’s happening at trajectories at transition time?…"/>
          <p:cNvSpPr txBox="1"/>
          <p:nvPr>
            <p:ph type="body" idx="1"/>
          </p:nvPr>
        </p:nvSpPr>
        <p:spPr>
          <a:xfrm>
            <a:off x="1206500" y="4248504"/>
            <a:ext cx="28783856" cy="6441896"/>
          </a:xfrm>
          <a:prstGeom prst="rect">
            <a:avLst/>
          </a:prstGeom>
        </p:spPr>
        <p:txBody>
          <a:bodyPr spcCol="1439192"/>
          <a:lstStyle/>
          <a:p>
            <a:pPr/>
            <a:r>
              <a:rPr i="1"/>
              <a:t>Diffusion dynamics</a:t>
            </a:r>
            <a:r>
              <a:t>: what’s happening at trajectories at transition time?</a:t>
            </a:r>
          </a:p>
          <a:p>
            <a:pPr/>
            <a:r>
              <a:rPr i="1"/>
              <a:t>Training dynamics</a:t>
            </a:r>
            <a:r>
              <a:t>: what’s happening at the training metrics at the timescale associated to the outlier?</a:t>
            </a:r>
          </a:p>
        </p:txBody>
      </p:sp>
      <p:sp>
        <p:nvSpPr>
          <p:cNvPr id="250" name="This is interesting at two levels:"/>
          <p:cNvSpPr txBox="1"/>
          <p:nvPr/>
        </p:nvSpPr>
        <p:spPr>
          <a:xfrm>
            <a:off x="1315642" y="1378696"/>
            <a:ext cx="14596365" cy="1205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i="1" sz="7300"/>
            </a:lvl1pPr>
          </a:lstStyle>
          <a:p>
            <a:pPr/>
            <a:r>
              <a:t>This is interesting at two levels: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Bu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But…</a:t>
            </a:r>
          </a:p>
        </p:txBody>
      </p:sp>
      <p:sp>
        <p:nvSpPr>
          <p:cNvPr id="253" name="… a legit doubt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… a legit doubt: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an RFNN learn a mixture?"/>
          <p:cNvSpPr txBox="1"/>
          <p:nvPr>
            <p:ph type="body" idx="1"/>
          </p:nvPr>
        </p:nvSpPr>
        <p:spPr>
          <a:xfrm>
            <a:off x="1206500" y="3031727"/>
            <a:ext cx="21971000" cy="7241584"/>
          </a:xfrm>
          <a:prstGeom prst="rect">
            <a:avLst/>
          </a:prstGeom>
        </p:spPr>
        <p:txBody>
          <a:bodyPr/>
          <a:lstStyle>
            <a:lvl1pPr defTabSz="2218888">
              <a:defRPr spc="-227" sz="22750"/>
            </a:lvl1pPr>
          </a:lstStyle>
          <a:p>
            <a:pPr/>
            <a:r>
              <a:t>Can RFNN learn a mixture?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It depends on the Gaussians separation!"/>
          <p:cNvSpPr txBox="1"/>
          <p:nvPr>
            <p:ph type="body" sz="half" idx="1"/>
          </p:nvPr>
        </p:nvSpPr>
        <p:spPr>
          <a:xfrm>
            <a:off x="1206500" y="221843"/>
            <a:ext cx="21971000" cy="3874314"/>
          </a:xfrm>
          <a:prstGeom prst="rect">
            <a:avLst/>
          </a:prstGeom>
        </p:spPr>
        <p:txBody>
          <a:bodyPr/>
          <a:lstStyle/>
          <a:p>
            <a:pPr/>
            <a:r>
              <a:t>It depends on the Gaussians separation!</a:t>
            </a:r>
          </a:p>
        </p:txBody>
      </p:sp>
      <p:sp>
        <p:nvSpPr>
          <p:cNvPr id="258" name="If   the random features score is approximately linear, so the backward process can at most produce a gaussian distribution!"/>
          <p:cNvSpPr txBox="1"/>
          <p:nvPr/>
        </p:nvSpPr>
        <p:spPr>
          <a:xfrm>
            <a:off x="362051" y="6046514"/>
            <a:ext cx="11448609" cy="2943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If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∥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∥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∼</m:t>
                </m:r>
                <m:r>
                  <m:rPr>
                    <m:scr m:val="script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the random features score is approximately linear, so the backward process can at most produce a gaussian distribution!</a:t>
            </a:r>
          </a:p>
        </p:txBody>
      </p:sp>
      <p:pic>
        <p:nvPicPr>
          <p:cNvPr id="259" name="Screenshot_2025-11-27_at_12.16.22.png" descr="Screenshot_2025-11-27_at_12.16.2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71191" y="4941498"/>
            <a:ext cx="11225954" cy="74714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If   the random features score is non linear, and we can sample effectively from a mixture."/>
          <p:cNvSpPr txBox="1"/>
          <p:nvPr/>
        </p:nvSpPr>
        <p:spPr>
          <a:xfrm>
            <a:off x="993433" y="3730309"/>
            <a:ext cx="8404808" cy="3010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If </a:t>
            </a:r>
            <a14:m>
              <m:oMath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∥</m:t>
                </m:r>
                <m:r>
                  <m:rPr>
                    <m:sty m:val="bi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∥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∼</m:t>
                </m:r>
                <m:r>
                  <m:rPr>
                    <m:scr m:val="script"/>
                  </m:rP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ad>
                  <m:radPr>
                    <m:ctrlP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e>
                </m:rad>
                <m:r>
                  <a:rPr xmlns:a="http://schemas.openxmlformats.org/drawingml/2006/main" sz="5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the random features score is non linear, and we can sample effectively from a mixture.</a:t>
            </a:r>
          </a:p>
        </p:txBody>
      </p:sp>
      <p:pic>
        <p:nvPicPr>
          <p:cNvPr id="262" name="mog_sample_MoG_d_100_m_10_T_10_221125_1214_t_0p001.png" descr="mog_sample_MoG_d_100_m_10_T_10_221125_1214_t_0p0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79408" y="3249596"/>
            <a:ext cx="12282987" cy="81886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onclusions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Non-separated regime: the process cannot recover the bimodal structure and diffusion collapses to a single component whose variance aligns with the signal direc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 i="1"/>
              <a:t>Non-separated regime</a:t>
            </a:r>
            <a:r>
              <a:t>: the process cannot recover the bimodal structure and diffusion collapses to a single component whose variance aligns with the signal direction</a:t>
            </a:r>
          </a:p>
          <a:p>
            <a:pPr/>
            <a:r>
              <a:rPr b="1" i="1"/>
              <a:t>Well-separated regime</a:t>
            </a:r>
            <a:r>
              <a:t>: the process recovers the multimodal structure and separates the modes</a:t>
            </a:r>
          </a:p>
        </p:txBody>
      </p:sp>
      <p:sp>
        <p:nvSpPr>
          <p:cNvPr id="267" name="The behavior of the dominant eigenvalue reveals the point (in terms of t and τ) at which the diffusion process becomes sensitive to the informative direction."/>
          <p:cNvSpPr txBox="1"/>
          <p:nvPr/>
        </p:nvSpPr>
        <p:spPr>
          <a:xfrm>
            <a:off x="1154758" y="814159"/>
            <a:ext cx="17383774" cy="2445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5200"/>
            </a:pPr>
            <a:r>
              <a:t>The behavior of the dominant eigenvalue reveals the point (in terms of </a:t>
            </a:r>
            <a:r>
              <a:rPr i="1"/>
              <a:t>t</a:t>
            </a:r>
            <a:r>
              <a:t> and </a:t>
            </a:r>
            <a:r>
              <a:rPr i="1"/>
              <a:t>τ</a:t>
            </a:r>
            <a:r>
              <a:t>) at which the diffusion process becomes sensitive to the informative direction.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